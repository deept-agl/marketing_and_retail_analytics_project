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4" r:id="rId14"/>
    <p:sldId id="277" r:id="rId15"/>
    <p:sldId id="275" r:id="rId16"/>
    <p:sldId id="276" r:id="rId17"/>
    <p:sldId id="283" r:id="rId18"/>
    <p:sldId id="284" r:id="rId19"/>
    <p:sldId id="285" r:id="rId20"/>
    <p:sldId id="278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8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9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33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7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631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42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73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48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72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20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1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8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4475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682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65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977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502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3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890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400425" y="3602038"/>
            <a:ext cx="8791575" cy="165576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393317" y="1747671"/>
            <a:ext cx="7685758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6000" dirty="0" smtClean="0"/>
              <a:t>MRA Project Milestone-2</a:t>
            </a:r>
            <a:endParaRPr lang="en-IN" sz="6000" dirty="0"/>
          </a:p>
        </p:txBody>
      </p:sp>
      <p:sp>
        <p:nvSpPr>
          <p:cNvPr id="5" name="TextBox 4"/>
          <p:cNvSpPr txBox="1"/>
          <p:nvPr/>
        </p:nvSpPr>
        <p:spPr>
          <a:xfrm>
            <a:off x="1393317" y="3383280"/>
            <a:ext cx="401421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BY- </a:t>
            </a:r>
            <a:r>
              <a:rPr lang="en-US" sz="2400" dirty="0" err="1" smtClean="0"/>
              <a:t>Deepti</a:t>
            </a:r>
            <a:r>
              <a:rPr lang="en-US" sz="2400" dirty="0" smtClean="0"/>
              <a:t> Agrawal</a:t>
            </a:r>
          </a:p>
          <a:p>
            <a:r>
              <a:rPr lang="en-US" sz="2400" dirty="0" smtClean="0"/>
              <a:t>PGPDSBA Online Nov_2020</a:t>
            </a:r>
          </a:p>
          <a:p>
            <a:r>
              <a:rPr lang="en-US" sz="2400" dirty="0"/>
              <a:t>d</a:t>
            </a:r>
            <a:r>
              <a:rPr lang="en-US" sz="2400" dirty="0" smtClean="0"/>
              <a:t>eepti.agl2912@gmail.com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702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61872" y="365760"/>
            <a:ext cx="4165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TABLE OF CONTENTS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261872" y="1499616"/>
            <a:ext cx="6032421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Exploratory Data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Univariate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Bivariate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Multivariate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Devising association rules using Market Basket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Output 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Tools used, parameters and assumptions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KNIME </a:t>
            </a:r>
            <a:r>
              <a:rPr lang="en-US" sz="2000" dirty="0" smtClean="0"/>
              <a:t>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RFM </a:t>
            </a:r>
            <a:r>
              <a:rPr lang="en-US" sz="2000" dirty="0" smtClean="0"/>
              <a:t>Inferences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Recommendations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Possible Combos/Suggestive discounts</a:t>
            </a:r>
          </a:p>
        </p:txBody>
      </p:sp>
    </p:spTree>
    <p:extLst>
      <p:ext uri="{BB962C8B-B14F-4D97-AF65-F5344CB8AC3E}">
        <p14:creationId xmlns:p14="http://schemas.microsoft.com/office/powerpoint/2010/main" val="285873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2144" y="822960"/>
            <a:ext cx="3796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PROBLEM STATEMENT</a:t>
            </a:r>
            <a:endParaRPr lang="en-I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1152144" y="2496312"/>
            <a:ext cx="95006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A Grocery Store shared the transactional data with you. O</a:t>
            </a:r>
            <a:r>
              <a:rPr lang="en-US" sz="2000" dirty="0" smtClean="0"/>
              <a:t>ur </a:t>
            </a:r>
            <a:r>
              <a:rPr lang="en-US" sz="2000" dirty="0"/>
              <a:t>job is to identify the most popular combos that can be suggested to the Grocery Store chain after a thorough analysis of the most commonly occurring sets of items in the customer orders. The Store doesn’t have any combo offers. </a:t>
            </a:r>
            <a:r>
              <a:rPr lang="en-US" sz="2000" dirty="0" smtClean="0"/>
              <a:t>We need to suggest </a:t>
            </a:r>
            <a:r>
              <a:rPr lang="en-US" sz="2000" dirty="0"/>
              <a:t>the best combos &amp; </a:t>
            </a:r>
            <a:r>
              <a:rPr lang="en-US" sz="2000" dirty="0" smtClean="0"/>
              <a:t>offers.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2297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96835" y="351026"/>
            <a:ext cx="3142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551" y="1638770"/>
            <a:ext cx="169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Data Shape: </a:t>
            </a:r>
            <a:endParaRPr lang="en-IN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961551" y="2752344"/>
            <a:ext cx="39944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Data Info: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The Dataset </a:t>
            </a:r>
            <a:r>
              <a:rPr lang="en-US" dirty="0"/>
              <a:t>has </a:t>
            </a:r>
            <a:r>
              <a:rPr lang="en-US" dirty="0" smtClean="0"/>
              <a:t>20641 transactions of a grocery store </a:t>
            </a:r>
            <a:r>
              <a:rPr lang="en-US" dirty="0"/>
              <a:t>with </a:t>
            </a:r>
            <a:r>
              <a:rPr lang="en-US" dirty="0" smtClean="0"/>
              <a:t>3 attributes as:</a:t>
            </a:r>
          </a:p>
          <a:p>
            <a:r>
              <a:rPr lang="en-US" dirty="0" smtClean="0"/>
              <a:t>-Date: date of transaction (date type),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Order_id</a:t>
            </a:r>
            <a:r>
              <a:rPr lang="en-US" dirty="0" smtClean="0"/>
              <a:t>: unique order number(integer type)</a:t>
            </a:r>
          </a:p>
          <a:p>
            <a:r>
              <a:rPr lang="en-US" dirty="0" smtClean="0"/>
              <a:t>-Product: description of product purchased in an order.(object type)</a:t>
            </a:r>
          </a:p>
          <a:p>
            <a:endParaRPr lang="en-US" dirty="0" smtClean="0"/>
          </a:p>
          <a:p>
            <a:r>
              <a:rPr lang="en-US" dirty="0" smtClean="0"/>
              <a:t>Data does not having any null, duplicate or missing values.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880" y="1871150"/>
            <a:ext cx="3015843" cy="7656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80" y="3493258"/>
            <a:ext cx="3284460" cy="212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1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7048" y="1819656"/>
            <a:ext cx="196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 smtClean="0"/>
              <a:t>Data Summary:</a:t>
            </a:r>
            <a:endParaRPr lang="en-IN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1315123" y="360170"/>
            <a:ext cx="3142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DATA ANALYSIS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632" y="2394168"/>
            <a:ext cx="5927759" cy="12902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7048" y="4261104"/>
            <a:ext cx="757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Here, Order_id is considered as an integer therefore, its statistics are calculated.</a:t>
            </a:r>
          </a:p>
          <a:p>
            <a:r>
              <a:rPr lang="en-US" dirty="0" smtClean="0"/>
              <a:t>But, in reference to our data, Order_id is a unique index (categorical)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6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9032" y="1938528"/>
            <a:ext cx="413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Exploratory Data Analysis</a:t>
            </a:r>
            <a:endParaRPr lang="en-I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335024" y="3008376"/>
            <a:ext cx="94896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Understanding Trends in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Visualizing Univariate, Bivariate and Multivariate Graphs through Tableau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6771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23360" y="329184"/>
            <a:ext cx="37087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WEEKLY TREND IN </a:t>
            </a:r>
            <a:r>
              <a:rPr lang="en-US" sz="2400" b="1" dirty="0" smtClean="0"/>
              <a:t>ORDERS</a:t>
            </a:r>
            <a:endParaRPr lang="en-US" sz="2400" b="1" dirty="0" smtClean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929384" y="5950241"/>
            <a:ext cx="8402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Week </a:t>
            </a:r>
            <a:r>
              <a:rPr lang="en-US" dirty="0"/>
              <a:t>8</a:t>
            </a:r>
            <a:r>
              <a:rPr lang="en-US" dirty="0" smtClean="0"/>
              <a:t> shows the highest Orders and there is a steep downfall from Week 9 to week 11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163" y="765555"/>
            <a:ext cx="6049289" cy="511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1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4216" y="338165"/>
            <a:ext cx="40005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MONTHLY </a:t>
            </a:r>
            <a:r>
              <a:rPr lang="en-US" sz="2400" b="1" dirty="0"/>
              <a:t>TREND IN </a:t>
            </a:r>
            <a:r>
              <a:rPr lang="en-US" sz="2400" b="1" dirty="0" smtClean="0"/>
              <a:t>ORDERS</a:t>
            </a:r>
            <a:endParaRPr lang="en-US" sz="2400" b="1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346840" y="6015709"/>
            <a:ext cx="5954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Highest orders are received during starting months of the year.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1076829"/>
            <a:ext cx="3986784" cy="471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4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64792" y="621792"/>
            <a:ext cx="3492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Quarterly Trend in </a:t>
            </a:r>
            <a:r>
              <a:rPr lang="en-US" sz="2400" b="1" dirty="0" smtClean="0"/>
              <a:t>Orders</a:t>
            </a:r>
            <a:endParaRPr lang="en-IN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213934" y="621791"/>
            <a:ext cx="3064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Yearly Trend in </a:t>
            </a:r>
            <a:r>
              <a:rPr lang="en-US" sz="2400" b="1" dirty="0" smtClean="0"/>
              <a:t>Orders</a:t>
            </a:r>
            <a:endParaRPr lang="en-I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342632" y="5854061"/>
            <a:ext cx="3141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Year 2018 and 2019 recorded </a:t>
            </a:r>
            <a:endParaRPr lang="en-US" dirty="0"/>
          </a:p>
          <a:p>
            <a:r>
              <a:rPr lang="en-US" dirty="0" smtClean="0"/>
              <a:t>almost similar number of orders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499616" y="5890522"/>
            <a:ext cx="409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Sales increased drastically from Q1 to Q2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98" y="1120147"/>
            <a:ext cx="1810518" cy="4770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664" y="1120147"/>
            <a:ext cx="1660552" cy="463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1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" y="548640"/>
            <a:ext cx="3113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High Demand Products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40" y="1257939"/>
            <a:ext cx="10646063" cy="28425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4544568"/>
            <a:ext cx="786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Poultry is the hot selling product of this grocery store, followed by Soda and cereals.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28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36146" y="274320"/>
            <a:ext cx="4547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Product Quantity ordered per year</a:t>
            </a:r>
            <a:endParaRPr lang="en-IN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937153"/>
            <a:ext cx="8030366" cy="4991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175" y="2625113"/>
            <a:ext cx="1074513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4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66453" y="472185"/>
            <a:ext cx="35932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Number of orders per year</a:t>
            </a:r>
          </a:p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35" y="1210849"/>
            <a:ext cx="8166057" cy="43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6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90872" y="685800"/>
            <a:ext cx="20355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Inferences: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95710" y="2331720"/>
            <a:ext cx="1044215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Our data consists of 20641 product orders of a </a:t>
            </a:r>
            <a:r>
              <a:rPr lang="en-US" sz="2400" dirty="0"/>
              <a:t>g</a:t>
            </a:r>
            <a:r>
              <a:rPr lang="en-US" sz="2400" dirty="0" smtClean="0"/>
              <a:t>rocery store in the year 2018, </a:t>
            </a:r>
          </a:p>
          <a:p>
            <a:r>
              <a:rPr lang="en-US" sz="2400" dirty="0" smtClean="0"/>
              <a:t>    2019 and 2020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Maximum orders are received during starting of every year.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The first quarter shows good no. of orders.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Poultry is the highest ordered product followed by soda, cereals and </a:t>
            </a:r>
            <a:r>
              <a:rPr lang="en-US" sz="2400" dirty="0" err="1" smtClean="0"/>
              <a:t>icecream</a:t>
            </a:r>
            <a:r>
              <a:rPr lang="en-US" sz="2400" dirty="0" smtClean="0"/>
              <a:t>. 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We have the data of only first quarter of year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144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9384" y="786384"/>
            <a:ext cx="8064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Devising Association Rules using </a:t>
            </a:r>
            <a:r>
              <a:rPr lang="en-US" sz="2800" dirty="0" smtClean="0"/>
              <a:t>Market Basket</a:t>
            </a:r>
            <a:r>
              <a:rPr lang="en-US" sz="2800" dirty="0" smtClean="0"/>
              <a:t> </a:t>
            </a:r>
            <a:r>
              <a:rPr lang="en-US" sz="2800" dirty="0" smtClean="0"/>
              <a:t>Analysis</a:t>
            </a:r>
            <a:endParaRPr lang="en-IN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403229" y="2240280"/>
            <a:ext cx="91165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KNIME tool is Used for </a:t>
            </a:r>
            <a:r>
              <a:rPr lang="en-US" dirty="0" smtClean="0"/>
              <a:t>Market Basket</a:t>
            </a:r>
            <a:r>
              <a:rPr lang="en-US" dirty="0" smtClean="0"/>
              <a:t>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Orders are grouped based on their order id which forms a basket of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These products are then analyzed by forming association rules and giving a consequence i.e. </a:t>
            </a:r>
          </a:p>
          <a:p>
            <a:r>
              <a:rPr lang="en-US" dirty="0" smtClean="0"/>
              <a:t>     a suggestive product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Based on these association rules we will form combos and recommended discounts for the grocery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66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98264" y="420624"/>
            <a:ext cx="2284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KNIME Workflow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145" y="1341042"/>
            <a:ext cx="4496190" cy="1798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10512" y="3548086"/>
            <a:ext cx="83825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Here, we are using Support and confidence threshold values to get the Lift score for rules.</a:t>
            </a:r>
          </a:p>
          <a:p>
            <a:r>
              <a:rPr lang="en-US" dirty="0" smtClean="0"/>
              <a:t>Support used is 0.05 and minimum confidence level is 0.4</a:t>
            </a:r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32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37458" y="237737"/>
            <a:ext cx="24454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OUTPUT TABLE</a:t>
            </a:r>
            <a:endParaRPr lang="en-IN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42" y="760957"/>
            <a:ext cx="7171510" cy="59924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05130" y="2413830"/>
            <a:ext cx="3733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output is based on the decreasing </a:t>
            </a:r>
          </a:p>
          <a:p>
            <a:r>
              <a:rPr lang="en-US" dirty="0" smtClean="0"/>
              <a:t>order of support and lift scores.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93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914164"/>
            <a:ext cx="5030259" cy="26686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75304" y="320040"/>
            <a:ext cx="2828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Association Rules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82189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175" y="524206"/>
            <a:ext cx="10328799" cy="14600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3305" y="2788920"/>
            <a:ext cx="112785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this snippet of our output table, we can see many parameters.</a:t>
            </a:r>
          </a:p>
          <a:p>
            <a:r>
              <a:rPr lang="en-US" dirty="0"/>
              <a:t>We can use Lift, together with Support and Confidence measures, to determine which association rules between </a:t>
            </a:r>
            <a:endParaRPr lang="en-US" dirty="0" smtClean="0"/>
          </a:p>
          <a:p>
            <a:r>
              <a:rPr lang="en-US" dirty="0" smtClean="0"/>
              <a:t>products </a:t>
            </a:r>
            <a:r>
              <a:rPr lang="en-US" dirty="0"/>
              <a:t>in a market basket are the strongest. Therefore, we can rank them and prioritize marketing actions around them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Here, in our dataset we are getting almost similar values for different rules.</a:t>
            </a:r>
          </a:p>
          <a:p>
            <a:r>
              <a:rPr lang="en-US" dirty="0" smtClean="0"/>
              <a:t>The lift here determines how well a consequence goes with the combo.</a:t>
            </a:r>
          </a:p>
          <a:p>
            <a:r>
              <a:rPr lang="en-US" dirty="0" smtClean="0"/>
              <a:t>If the lift is low, </a:t>
            </a:r>
            <a:r>
              <a:rPr lang="en-US" dirty="0"/>
              <a:t>bundling them together doesn’t have any effect on how many you would sell.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53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3" y="411480"/>
            <a:ext cx="8329997" cy="43689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5394960"/>
            <a:ext cx="3596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Decreasing order of Lift and Support</a:t>
            </a:r>
          </a:p>
        </p:txBody>
      </p:sp>
    </p:spTree>
    <p:extLst>
      <p:ext uri="{BB962C8B-B14F-4D97-AF65-F5344CB8AC3E}">
        <p14:creationId xmlns:p14="http://schemas.microsoft.com/office/powerpoint/2010/main" val="421975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0904" y="740664"/>
            <a:ext cx="6275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Identified </a:t>
            </a:r>
            <a:r>
              <a:rPr lang="en-US" sz="2400" b="1" dirty="0" smtClean="0"/>
              <a:t>Combos</a:t>
            </a:r>
            <a:r>
              <a:rPr lang="en-US" sz="2400" b="1" dirty="0" smtClean="0"/>
              <a:t> </a:t>
            </a:r>
            <a:r>
              <a:rPr lang="en-US" sz="2400" b="1" dirty="0" smtClean="0"/>
              <a:t>from </a:t>
            </a:r>
            <a:r>
              <a:rPr lang="en-US" sz="2400" b="1" dirty="0" smtClean="0"/>
              <a:t>Market Basket</a:t>
            </a:r>
            <a:r>
              <a:rPr lang="en-US" sz="2400" b="1" dirty="0" smtClean="0"/>
              <a:t> </a:t>
            </a:r>
            <a:r>
              <a:rPr lang="en-US" sz="2400" b="1" dirty="0" smtClean="0"/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47288" y="1956816"/>
            <a:ext cx="50906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Combo 1: poultry and dinner rolls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Combo 2: eggs and soda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Combo 3: poultry, lunch meat and waffles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Combo 4: dishwashing liquid/detergent and mixes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Combo 5: poultry, yoghurt, milk and cheese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Combo 6: Sandwich bags and tortillas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559961" y="4489704"/>
            <a:ext cx="8477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These are the combos which have all 3: lift, support and confidence metrics in good values.</a:t>
            </a:r>
          </a:p>
          <a:p>
            <a:r>
              <a:rPr lang="en-US" dirty="0" smtClean="0"/>
              <a:t>Thus, they are highly ordered and their combos can </a:t>
            </a:r>
            <a:r>
              <a:rPr lang="en-US" smtClean="0"/>
              <a:t>benefit the store.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47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1568" y="2459736"/>
            <a:ext cx="48106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smtClean="0"/>
              <a:t>THANK YOU!!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95517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MRA MIL-1 PPT DeeptiAgrawal</Template>
  <TotalTime>852</TotalTime>
  <Words>700</Words>
  <Application>Microsoft Office PowerPoint</Application>
  <PresentationFormat>Widescreen</PresentationFormat>
  <Paragraphs>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deept</dc:creator>
  <cp:lastModifiedBy>deept</cp:lastModifiedBy>
  <cp:revision>14</cp:revision>
  <dcterms:created xsi:type="dcterms:W3CDTF">2021-10-02T15:06:37Z</dcterms:created>
  <dcterms:modified xsi:type="dcterms:W3CDTF">2021-10-03T09:22:42Z</dcterms:modified>
</cp:coreProperties>
</file>