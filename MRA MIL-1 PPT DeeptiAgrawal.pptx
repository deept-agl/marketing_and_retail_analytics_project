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9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33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7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3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42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3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8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72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20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1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8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4475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682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65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77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502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90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400425" y="3602038"/>
            <a:ext cx="8791575" cy="165576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93317" y="1747671"/>
            <a:ext cx="7685758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000" dirty="0" smtClean="0"/>
              <a:t>MRA Project Milestone-1</a:t>
            </a:r>
            <a:endParaRPr lang="en-IN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1393317" y="3383280"/>
            <a:ext cx="401421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BY- </a:t>
            </a:r>
            <a:r>
              <a:rPr lang="en-US" sz="2400" dirty="0" err="1" smtClean="0"/>
              <a:t>Deepti</a:t>
            </a:r>
            <a:r>
              <a:rPr lang="en-US" sz="2400" dirty="0" smtClean="0"/>
              <a:t> Agrawal</a:t>
            </a:r>
          </a:p>
          <a:p>
            <a:r>
              <a:rPr lang="en-US" sz="2400" dirty="0" smtClean="0"/>
              <a:t>PGPDSBA Online Nov_2020</a:t>
            </a:r>
          </a:p>
          <a:p>
            <a:r>
              <a:rPr lang="en-US" sz="2400" dirty="0"/>
              <a:t>d</a:t>
            </a:r>
            <a:r>
              <a:rPr lang="en-US" sz="2400" dirty="0" smtClean="0"/>
              <a:t>eepti.agl2912@gmail.com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702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1872" y="365760"/>
            <a:ext cx="4165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TABLE OF CONTENTS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261872" y="1499616"/>
            <a:ext cx="498187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Exploratory Data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Univariate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Bivariate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Multivariate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Customer Segmentation using RFM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Output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Tools used, parameters and assumptions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KNIME </a:t>
            </a:r>
            <a:r>
              <a:rPr lang="en-US" sz="2000" dirty="0" smtClean="0"/>
              <a:t>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RFM </a:t>
            </a:r>
            <a:r>
              <a:rPr lang="en-US" sz="2000" dirty="0" smtClean="0"/>
              <a:t>Inferences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Loyal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Lost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Best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Customers on the verge of churning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5873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2144" y="822960"/>
            <a:ext cx="3796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PROBLEM STATEMENT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152144" y="2496312"/>
            <a:ext cx="95006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/>
              <a:t>An </a:t>
            </a:r>
            <a:r>
              <a:rPr lang="en-US" sz="2000" dirty="0"/>
              <a:t>automobile parts manufacturing company has collected data of transactions for 3 years. </a:t>
            </a:r>
            <a:endParaRPr lang="en-US" sz="2000" dirty="0" smtClean="0"/>
          </a:p>
          <a:p>
            <a:pPr algn="just"/>
            <a:r>
              <a:rPr lang="en-US" sz="2000" dirty="0" smtClean="0"/>
              <a:t>They </a:t>
            </a:r>
            <a:r>
              <a:rPr lang="en-US" sz="2000" dirty="0"/>
              <a:t>do not have any in-house data science team, thus they have hired us as their consultant. </a:t>
            </a:r>
            <a:endParaRPr lang="en-US" sz="2000" dirty="0" smtClean="0"/>
          </a:p>
          <a:p>
            <a:pPr algn="just"/>
            <a:r>
              <a:rPr lang="en-US" sz="2000" dirty="0" smtClean="0"/>
              <a:t>Our </a:t>
            </a:r>
            <a:r>
              <a:rPr lang="en-US" sz="2000" dirty="0"/>
              <a:t>job is to use your magical data science skills to provide them with suitable insights about their data and their customers.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2297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880" y="2537519"/>
            <a:ext cx="3869376" cy="3952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6835" y="351026"/>
            <a:ext cx="314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DATA ANALYSIS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80" y="1622476"/>
            <a:ext cx="2945832" cy="673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1551" y="1638770"/>
            <a:ext cx="169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Data Shape: </a:t>
            </a:r>
            <a:endParaRPr lang="en-IN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961551" y="2752344"/>
            <a:ext cx="39944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Data Info:</a:t>
            </a:r>
          </a:p>
          <a:p>
            <a:r>
              <a:rPr lang="en-US" dirty="0" smtClean="0"/>
              <a:t>    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The Dataset </a:t>
            </a:r>
            <a:r>
              <a:rPr lang="en-US" dirty="0"/>
              <a:t>has 2747 instances with 19 attributes with 1 of type date time, 5 integer type, 2 float type and rest 12 are </a:t>
            </a:r>
            <a:r>
              <a:rPr lang="en-US" dirty="0" smtClean="0"/>
              <a:t>categorical type</a:t>
            </a:r>
            <a:r>
              <a:rPr lang="en-US" dirty="0"/>
              <a:t>.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Data does not having any null, duplicate or missing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41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667682"/>
            <a:ext cx="8674906" cy="25992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1819656"/>
            <a:ext cx="196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Data Summary:</a:t>
            </a:r>
            <a:endParaRPr lang="en-IN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1315123" y="360170"/>
            <a:ext cx="314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3496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898" y="919622"/>
            <a:ext cx="7975776" cy="31037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1720" y="4608576"/>
            <a:ext cx="65209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Price of Each Item:</a:t>
            </a:r>
          </a:p>
          <a:p>
            <a:pPr algn="ctr"/>
            <a:endParaRPr lang="en-US" sz="2400" dirty="0" smtClean="0"/>
          </a:p>
          <a:p>
            <a:r>
              <a:rPr lang="en-US" dirty="0"/>
              <a:t>	</a:t>
            </a:r>
            <a:r>
              <a:rPr lang="en-US" dirty="0" smtClean="0"/>
              <a:t>This variable has a lot of outliers and looks slightly right-skewed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78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56" y="1042304"/>
            <a:ext cx="7701063" cy="29337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76856" y="4855464"/>
            <a:ext cx="76835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Quantity Ordered:</a:t>
            </a:r>
          </a:p>
          <a:p>
            <a:endParaRPr lang="en-US" dirty="0"/>
          </a:p>
          <a:p>
            <a:r>
              <a:rPr lang="en-US" dirty="0" smtClean="0"/>
              <a:t>There are outliers present in the data and the variable is not normally distributed.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43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20" y="987553"/>
            <a:ext cx="7629262" cy="27448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4443984"/>
            <a:ext cx="56166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MSRP: Manufacturer’s suggested Retail Price</a:t>
            </a:r>
          </a:p>
          <a:p>
            <a:endParaRPr lang="en-US" dirty="0"/>
          </a:p>
          <a:p>
            <a:r>
              <a:rPr lang="en-US" dirty="0" smtClean="0"/>
              <a:t>This variable has very few outliers present.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67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304" y="896112"/>
            <a:ext cx="7882543" cy="3080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5848" y="4498848"/>
            <a:ext cx="525618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SALES:</a:t>
            </a:r>
          </a:p>
          <a:p>
            <a:endParaRPr lang="en-US" dirty="0" smtClean="0"/>
          </a:p>
          <a:p>
            <a:r>
              <a:rPr lang="en-US" dirty="0" smtClean="0"/>
              <a:t>This variable is skewed to right and has a lot of outliers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140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49" y="1709730"/>
            <a:ext cx="4856383" cy="4266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6673" y="914400"/>
            <a:ext cx="2784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 smtClean="0"/>
              <a:t>Correlation-Heat Map</a:t>
            </a:r>
            <a:endParaRPr lang="en-IN" sz="20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6958584" y="2249226"/>
            <a:ext cx="42859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 Correlated variables </a:t>
            </a:r>
            <a:r>
              <a:rPr lang="en-IN" dirty="0" smtClean="0"/>
              <a:t>are:</a:t>
            </a:r>
          </a:p>
          <a:p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SALES &amp; PRICEEACH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MSRP </a:t>
            </a:r>
            <a:r>
              <a:rPr lang="en-IN" dirty="0"/>
              <a:t>&amp; </a:t>
            </a:r>
            <a:r>
              <a:rPr lang="en-IN" dirty="0" smtClean="0"/>
              <a:t>PRICEEACH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SALES </a:t>
            </a:r>
            <a:r>
              <a:rPr lang="en-IN" dirty="0"/>
              <a:t>&amp; </a:t>
            </a:r>
            <a:r>
              <a:rPr lang="en-IN" dirty="0" smtClean="0"/>
              <a:t>QUANTITYORDERED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SALES </a:t>
            </a:r>
            <a:r>
              <a:rPr lang="en-IN" dirty="0"/>
              <a:t>&amp; MSRP.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54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9032" y="1938528"/>
            <a:ext cx="413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Exploratory Data Analysis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35024" y="3008376"/>
            <a:ext cx="9489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Understanding Trends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Visualizing Univariate, Bivariate and Multivariate Graphs through Tableau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6771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8" y="958120"/>
            <a:ext cx="6850745" cy="44721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23360" y="329184"/>
            <a:ext cx="34154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WEEKLY TREND IN SALES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288536" y="5907024"/>
            <a:ext cx="3219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Week 45 shows the highest Sales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41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3" y="1076829"/>
            <a:ext cx="5212081" cy="44275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14216" y="338165"/>
            <a:ext cx="37071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MONTHLY </a:t>
            </a:r>
            <a:r>
              <a:rPr lang="en-US" sz="2400" b="1" dirty="0"/>
              <a:t>TREND IN SALES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858768" y="5873693"/>
            <a:ext cx="427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November months gives out the highest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24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011" y="1254905"/>
            <a:ext cx="2140237" cy="43041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332"/>
          <a:stretch/>
        </p:blipFill>
        <p:spPr>
          <a:xfrm>
            <a:off x="7616953" y="1178847"/>
            <a:ext cx="1693190" cy="4380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64792" y="621792"/>
            <a:ext cx="3296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Quarterly Trend in Sales</a:t>
            </a:r>
            <a:endParaRPr lang="en-I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213934" y="621791"/>
            <a:ext cx="2868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Yearly Trend in Sales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059168" y="5852160"/>
            <a:ext cx="367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Year 2019 recorded the highest Sales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499616" y="5890522"/>
            <a:ext cx="409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Sales increased drastically from Q3 to Q4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31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75" y="2795701"/>
            <a:ext cx="9900787" cy="1904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" y="1892808"/>
            <a:ext cx="2981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Sales per Product Line</a:t>
            </a:r>
          </a:p>
        </p:txBody>
      </p:sp>
    </p:spTree>
    <p:extLst>
      <p:ext uri="{BB962C8B-B14F-4D97-AF65-F5344CB8AC3E}">
        <p14:creationId xmlns:p14="http://schemas.microsoft.com/office/powerpoint/2010/main" val="100728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86" y="1914724"/>
            <a:ext cx="9281964" cy="4198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7586" y="950976"/>
            <a:ext cx="2627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Sales per Customer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8414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53" y="1365316"/>
            <a:ext cx="9167654" cy="4328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6453" y="472185"/>
            <a:ext cx="59172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Quantity Ordered Per product and their Sales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165" y="5848318"/>
            <a:ext cx="1447925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134962"/>
            <a:ext cx="8486790" cy="51372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8184" y="303965"/>
            <a:ext cx="3236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Country-City Wise Sales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6959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0872" y="685800"/>
            <a:ext cx="2035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Inferences: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12648" y="2697480"/>
            <a:ext cx="1108874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City Madrid in country Spain is delivering the highest sales as compared to other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Euro Shopping Channel seems to be the best customer in terms of Sale amount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Classic Cars is the product line having highest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USA has the highest sales as compared to other countries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44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9736" y="795528"/>
            <a:ext cx="630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Customer Segmentation using RFM Analysis</a:t>
            </a:r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97864" y="2139696"/>
            <a:ext cx="91165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KNIME tool is Used for RFM analysis &amp; Customer segmentation.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name, Quantity ordered, Price each, Order date, order quantity &amp; Sales are the used parameters.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Predictions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Max(order date) – order date] taken as </a:t>
            </a:r>
            <a:r>
              <a:rPr lang="en-US" dirty="0" err="1"/>
              <a:t>Recency</a:t>
            </a:r>
            <a:r>
              <a:rPr lang="en-US" dirty="0"/>
              <a:t> value.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Count of Quantity orders for a particular customer is taken as Frequency value.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Sum of Sales made through a particular customer is taken as Monetary value. 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66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064486"/>
            <a:ext cx="6427784" cy="54409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8264" y="420624"/>
            <a:ext cx="2284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KNIME Workflow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132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210628"/>
            <a:ext cx="11877102" cy="34062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1414" y="877824"/>
            <a:ext cx="2445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OUTPUT TABLE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5593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4408" y="246888"/>
            <a:ext cx="492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Identified Segments from RFM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1154597"/>
            <a:ext cx="31368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Loyal </a:t>
            </a:r>
            <a:r>
              <a:rPr lang="en-US" sz="3200" dirty="0" smtClean="0"/>
              <a:t>Customers</a:t>
            </a:r>
            <a:endParaRPr lang="en-US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124712" y="2185416"/>
            <a:ext cx="8485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Euro Shopping Channel</a:t>
            </a:r>
            <a:r>
              <a:rPr lang="en-IN" sz="2800" dirty="0"/>
              <a:t> </a:t>
            </a:r>
            <a:r>
              <a:rPr lang="en-IN" sz="2800" dirty="0" smtClean="0"/>
              <a:t>, RFM Score 444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Anna's Decorations, Ltd</a:t>
            </a:r>
            <a:r>
              <a:rPr lang="en-IN" sz="2800" dirty="0"/>
              <a:t> , RFM Score </a:t>
            </a:r>
            <a:r>
              <a:rPr lang="en-IN" sz="2800" dirty="0" smtClean="0"/>
              <a:t>444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Online </a:t>
            </a:r>
            <a:r>
              <a:rPr lang="en-IN" sz="2800" dirty="0" err="1"/>
              <a:t>Diecast</a:t>
            </a:r>
            <a:r>
              <a:rPr lang="en-IN" sz="2800" dirty="0"/>
              <a:t> Creations Co.</a:t>
            </a:r>
            <a:r>
              <a:rPr lang="en-IN" sz="2800" dirty="0"/>
              <a:t> , RFM Score </a:t>
            </a:r>
            <a:r>
              <a:rPr lang="en-IN" sz="2800" dirty="0" smtClean="0"/>
              <a:t>444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UK Collectables, Ltd.</a:t>
            </a:r>
            <a:r>
              <a:rPr lang="en-IN" sz="2800" dirty="0"/>
              <a:t> , RFM Score </a:t>
            </a:r>
            <a:r>
              <a:rPr lang="en-IN" sz="2800" dirty="0" smtClean="0"/>
              <a:t>433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Oulu Toy Supplies, Inc.</a:t>
            </a:r>
            <a:r>
              <a:rPr lang="en-IN" sz="2800" dirty="0"/>
              <a:t> , RFM Score </a:t>
            </a:r>
            <a:r>
              <a:rPr lang="en-IN" sz="2800" dirty="0" smtClean="0"/>
              <a:t>433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3747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" y="1154597"/>
            <a:ext cx="29706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2. Lost Customers</a:t>
            </a:r>
            <a:endParaRPr lang="en-US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124712" y="2226231"/>
            <a:ext cx="8485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 smtClean="0"/>
              <a:t>Auto-Moto Classics Inc. , RFM Score 111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Gift Ideas Corp</a:t>
            </a:r>
            <a:r>
              <a:rPr lang="en-IN" sz="2800" dirty="0" smtClean="0"/>
              <a:t>. , RFM Score 111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Australian Gift Network, </a:t>
            </a:r>
            <a:r>
              <a:rPr lang="en-IN" sz="2800" dirty="0" smtClean="0"/>
              <a:t>Co , </a:t>
            </a:r>
            <a:r>
              <a:rPr lang="en-IN" sz="2800" dirty="0"/>
              <a:t>RFM Score </a:t>
            </a:r>
            <a:r>
              <a:rPr lang="en-IN" sz="2800" dirty="0" smtClean="0"/>
              <a:t>111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Mini Auto </a:t>
            </a:r>
            <a:r>
              <a:rPr lang="en-IN" sz="2800" dirty="0" err="1" smtClean="0"/>
              <a:t>Werke</a:t>
            </a:r>
            <a:r>
              <a:rPr lang="en-IN" sz="2800" dirty="0" smtClean="0"/>
              <a:t>, </a:t>
            </a:r>
            <a:r>
              <a:rPr lang="en-IN" sz="2800" dirty="0"/>
              <a:t>RFM Score </a:t>
            </a:r>
            <a:r>
              <a:rPr lang="en-IN" sz="2800" dirty="0" smtClean="0"/>
              <a:t>111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Oulu Toy Supplies, Inc.</a:t>
            </a:r>
            <a:r>
              <a:rPr lang="en-IN" sz="2800" dirty="0"/>
              <a:t> , RFM Score </a:t>
            </a:r>
            <a:r>
              <a:rPr lang="en-IN" sz="2800" dirty="0" smtClean="0"/>
              <a:t>111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1762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1154597"/>
            <a:ext cx="3017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3. Best Customers</a:t>
            </a:r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124712" y="2280667"/>
            <a:ext cx="8485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Euro Shopping Channel</a:t>
            </a:r>
            <a:r>
              <a:rPr lang="en-IN" sz="2800" dirty="0"/>
              <a:t> </a:t>
            </a:r>
            <a:r>
              <a:rPr lang="en-IN" sz="2800" dirty="0" smtClean="0"/>
              <a:t>, RFM Score 444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Anna's Decorations, Ltd</a:t>
            </a:r>
            <a:r>
              <a:rPr lang="en-IN" sz="2800" dirty="0"/>
              <a:t> , RFM Score </a:t>
            </a:r>
            <a:r>
              <a:rPr lang="en-IN" sz="2800" dirty="0" smtClean="0"/>
              <a:t>444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Online </a:t>
            </a:r>
            <a:r>
              <a:rPr lang="en-IN" sz="2800" dirty="0" err="1"/>
              <a:t>Diecast</a:t>
            </a:r>
            <a:r>
              <a:rPr lang="en-IN" sz="2800" dirty="0"/>
              <a:t> Creations Co.</a:t>
            </a:r>
            <a:r>
              <a:rPr lang="en-IN" sz="2800" dirty="0"/>
              <a:t> , RFM Score </a:t>
            </a:r>
            <a:r>
              <a:rPr lang="en-IN" sz="2800" dirty="0" smtClean="0"/>
              <a:t>444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 err="1"/>
              <a:t>Souveniers</a:t>
            </a:r>
            <a:r>
              <a:rPr lang="en-IN" sz="2800" dirty="0"/>
              <a:t> And Things Co</a:t>
            </a:r>
            <a:r>
              <a:rPr lang="en-IN" sz="2800" dirty="0" smtClean="0"/>
              <a:t>. , </a:t>
            </a:r>
            <a:r>
              <a:rPr lang="en-IN" sz="2800" dirty="0"/>
              <a:t>RFM Score </a:t>
            </a:r>
            <a:r>
              <a:rPr lang="en-IN" sz="2800" dirty="0" smtClean="0"/>
              <a:t>344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Salzburg </a:t>
            </a:r>
            <a:r>
              <a:rPr lang="en-IN" sz="2800" dirty="0" smtClean="0"/>
              <a:t>Collectables , </a:t>
            </a:r>
            <a:r>
              <a:rPr lang="en-IN" sz="2800" dirty="0"/>
              <a:t>RFM Score </a:t>
            </a:r>
            <a:r>
              <a:rPr lang="en-IN" sz="2800" dirty="0" smtClean="0"/>
              <a:t>344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0093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1154597"/>
            <a:ext cx="6411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4. Customers on the verge of Churning</a:t>
            </a:r>
            <a:endParaRPr lang="en-US" sz="24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124712" y="2226231"/>
            <a:ext cx="8485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Land of Toys Inc</a:t>
            </a:r>
            <a:r>
              <a:rPr lang="en-IN" sz="2800" dirty="0" smtClean="0"/>
              <a:t>., RFM Score 144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Muscle Machine </a:t>
            </a:r>
            <a:r>
              <a:rPr lang="en-IN" sz="2800" dirty="0" err="1" smtClean="0"/>
              <a:t>Inc</a:t>
            </a:r>
            <a:r>
              <a:rPr lang="en-IN" sz="2800" dirty="0" smtClean="0"/>
              <a:t>, RFM Score 144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Dragon </a:t>
            </a:r>
            <a:r>
              <a:rPr lang="en-IN" sz="2800" dirty="0" err="1"/>
              <a:t>Souveniers</a:t>
            </a:r>
            <a:r>
              <a:rPr lang="en-IN" sz="2800" dirty="0"/>
              <a:t>, Ltd</a:t>
            </a:r>
            <a:r>
              <a:rPr lang="en-IN" sz="2800" dirty="0" smtClean="0"/>
              <a:t>., </a:t>
            </a:r>
            <a:r>
              <a:rPr lang="en-IN" sz="2800" dirty="0"/>
              <a:t>RFM Score </a:t>
            </a:r>
            <a:r>
              <a:rPr lang="en-IN" sz="2800" dirty="0" smtClean="0"/>
              <a:t>144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Reims </a:t>
            </a:r>
            <a:r>
              <a:rPr lang="en-IN" sz="2800" dirty="0" smtClean="0"/>
              <a:t>Collectables, </a:t>
            </a:r>
            <a:r>
              <a:rPr lang="en-IN" sz="2800" dirty="0"/>
              <a:t>RFM Score </a:t>
            </a:r>
            <a:r>
              <a:rPr lang="en-IN" sz="2800" dirty="0" smtClean="0"/>
              <a:t>144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Danish Wholesale </a:t>
            </a:r>
            <a:r>
              <a:rPr lang="en-IN" sz="2800" dirty="0" smtClean="0"/>
              <a:t>Imports, </a:t>
            </a:r>
            <a:r>
              <a:rPr lang="en-IN" sz="2800" dirty="0"/>
              <a:t>RFM Score </a:t>
            </a:r>
            <a:r>
              <a:rPr lang="en-IN" sz="2800" dirty="0" smtClean="0"/>
              <a:t>144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2271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1568" y="2459736"/>
            <a:ext cx="48106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/>
              <a:t>THANK YOU!!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955172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186</TotalTime>
  <Words>636</Words>
  <Application>Microsoft Office PowerPoint</Application>
  <PresentationFormat>Widescreen</PresentationFormat>
  <Paragraphs>113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Trebuchet MS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deept</dc:creator>
  <cp:lastModifiedBy>deept</cp:lastModifiedBy>
  <cp:revision>15</cp:revision>
  <dcterms:created xsi:type="dcterms:W3CDTF">2021-09-26T11:29:34Z</dcterms:created>
  <dcterms:modified xsi:type="dcterms:W3CDTF">2021-09-26T14:36:08Z</dcterms:modified>
</cp:coreProperties>
</file>